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61" r:id="rId7"/>
    <p:sldId id="270" r:id="rId8"/>
    <p:sldId id="269" r:id="rId9"/>
    <p:sldId id="265" r:id="rId10"/>
    <p:sldId id="262" r:id="rId11"/>
    <p:sldId id="264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3B1BAC-F942-C048-A630-674394504B2C}" v="2" dt="2026-02-12T17:43:25.7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678"/>
    <p:restoredTop sz="94646"/>
  </p:normalViewPr>
  <p:slideViewPr>
    <p:cSldViewPr snapToGrid="0">
      <p:cViewPr varScale="1">
        <p:scale>
          <a:sx n="90" d="100"/>
          <a:sy n="90" d="100"/>
        </p:scale>
        <p:origin x="480" y="48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Stack of files">
            <a:extLst>
              <a:ext uri="{FF2B5EF4-FFF2-40B4-BE49-F238E27FC236}">
                <a16:creationId xmlns:a16="http://schemas.microsoft.com/office/drawing/2014/main" id="{81BD88A4-5589-C0B4-9701-10A67F7AFE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310" r="26240" b="-1"/>
          <a:stretch>
            <a:fillRect/>
          </a:stretch>
        </p:blipFill>
        <p:spPr>
          <a:xfrm>
            <a:off x="4577270" y="10"/>
            <a:ext cx="4566728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7268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7268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878" y="328512"/>
            <a:ext cx="9037122" cy="162897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700" dirty="0"/>
              <a:t>Three-Bureau Credit File Freeze </a:t>
            </a:r>
            <a:br>
              <a:rPr lang="en-US" sz="2700" dirty="0"/>
            </a:br>
            <a:r>
              <a:rPr lang="en-US" sz="2700" dirty="0"/>
              <a:t>A Superior Solution to stop ID Theft</a:t>
            </a:r>
            <a:br>
              <a:rPr lang="en-US" sz="2700" dirty="0"/>
            </a:br>
            <a:r>
              <a:rPr lang="en-US" sz="2700" dirty="0"/>
              <a:t>Vs Credit Monitoring.</a:t>
            </a:r>
            <a:br>
              <a:rPr lang="en-US" sz="2700" dirty="0"/>
            </a:br>
            <a:r>
              <a:rPr lang="en-US" sz="2700" dirty="0"/>
              <a:t> 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2" y="1957482"/>
            <a:ext cx="4066169" cy="430158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700" dirty="0"/>
              <a:t>US credit-eligible adult population + 258M</a:t>
            </a:r>
          </a:p>
          <a:p>
            <a:pPr lvl="1">
              <a:lnSpc>
                <a:spcPct val="90000"/>
              </a:lnSpc>
            </a:pPr>
            <a:r>
              <a:rPr lang="en-US" sz="1300" dirty="0"/>
              <a:t>90% have a credit file and Score</a:t>
            </a:r>
          </a:p>
          <a:p>
            <a:pPr lvl="1">
              <a:lnSpc>
                <a:spcPct val="90000"/>
              </a:lnSpc>
            </a:pPr>
            <a:r>
              <a:rPr lang="en-US" sz="1300" dirty="0"/>
              <a:t>230M Americans  at risk  and potential users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Identity theft exploding (1.1M+ cases in 2024)</a:t>
            </a:r>
          </a:p>
          <a:p>
            <a:pPr lvl="1">
              <a:lnSpc>
                <a:spcPct val="90000"/>
              </a:lnSpc>
            </a:pPr>
            <a:r>
              <a:rPr lang="en-US" sz="1700" dirty="0"/>
              <a:t>New-account fraud fastest growing vector</a:t>
            </a:r>
          </a:p>
          <a:p>
            <a:pPr lvl="1">
              <a:lnSpc>
                <a:spcPct val="90000"/>
              </a:lnSpc>
            </a:pPr>
            <a:r>
              <a:rPr lang="en-US" sz="1700" dirty="0"/>
              <a:t>Fraud requires unlocked credit files</a:t>
            </a:r>
          </a:p>
          <a:p>
            <a:pPr lvl="1">
              <a:lnSpc>
                <a:spcPct val="90000"/>
              </a:lnSpc>
            </a:pPr>
            <a:r>
              <a:rPr lang="en-US" sz="1700" dirty="0"/>
              <a:t>Freezes effective but only ~10% adoption</a:t>
            </a:r>
          </a:p>
          <a:p>
            <a:pPr lvl="1">
              <a:lnSpc>
                <a:spcPct val="90000"/>
              </a:lnSpc>
            </a:pPr>
            <a:r>
              <a:rPr lang="en-US" sz="1700" dirty="0"/>
              <a:t>Credit bureaus sell monitoring, Freezes are Free by Law </a:t>
            </a:r>
          </a:p>
          <a:p>
            <a:pPr lvl="1">
              <a:lnSpc>
                <a:spcPct val="90000"/>
              </a:lnSpc>
            </a:pPr>
            <a:r>
              <a:rPr lang="en-US" sz="1700" dirty="0"/>
              <a:t>Freezes prevent access to Credit files, monitoring alerts after they have been accessed.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3200" dirty="0"/>
              <a:t>Credit</a:t>
            </a:r>
            <a:r>
              <a:rPr lang="en-US" sz="3200" dirty="0"/>
              <a:t> Monitoring is standard for breach remediation  and a huge Cash cow for  Credit Bureaus </a:t>
            </a:r>
            <a:endParaRPr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endParaRPr lang="en-US" dirty="0"/>
          </a:p>
          <a:p>
            <a:r>
              <a:rPr lang="en-US" dirty="0"/>
              <a:t>Identity – theft protection services is now a global business estimated at $14.9B in 2024</a:t>
            </a:r>
          </a:p>
          <a:p>
            <a:pPr lvl="1"/>
            <a:r>
              <a:rPr lang="en-US" dirty="0"/>
              <a:t>Protected d to grow to 41.8B by 2032 ( 13.7% </a:t>
            </a:r>
            <a:r>
              <a:rPr lang="en-US" dirty="0" err="1"/>
              <a:t>Cagr</a:t>
            </a:r>
            <a:r>
              <a:rPr lang="en-US" dirty="0"/>
              <a:t>)</a:t>
            </a:r>
          </a:p>
          <a:p>
            <a:r>
              <a:rPr lang="en-US" dirty="0"/>
              <a:t>Credit Monitoring services</a:t>
            </a:r>
          </a:p>
          <a:p>
            <a:pPr lvl="1"/>
            <a:r>
              <a:rPr lang="en-US" dirty="0"/>
              <a:t>$7.7B in 2024 with North America -  57% of revenue</a:t>
            </a:r>
          </a:p>
          <a:p>
            <a:pPr lvl="1"/>
            <a:endParaRPr lang="en-US" dirty="0"/>
          </a:p>
          <a:p>
            <a:r>
              <a:rPr lang="en-US" dirty="0"/>
              <a:t> </a:t>
            </a:r>
            <a:r>
              <a:rPr lang="en-US" sz="3400" b="1" dirty="0"/>
              <a:t>Monitoring alerts consumer someone is opening their file</a:t>
            </a:r>
          </a:p>
          <a:p>
            <a:r>
              <a:rPr lang="en-US" sz="3400" b="1" dirty="0"/>
              <a:t>Freezes prevent file from being opened. </a:t>
            </a:r>
          </a:p>
          <a:p>
            <a:r>
              <a:rPr dirty="0"/>
              <a:t>Only ~10% have active freeze</a:t>
            </a:r>
          </a:p>
          <a:p>
            <a:pPr lvl="1"/>
            <a:r>
              <a:rPr dirty="0"/>
              <a:t>Fragmented UX across bureaus</a:t>
            </a:r>
          </a:p>
          <a:p>
            <a:pPr lvl="1"/>
            <a:r>
              <a:rPr dirty="0"/>
              <a:t>Confusion between alerts and freezes</a:t>
            </a:r>
          </a:p>
          <a:p>
            <a:pPr lvl="1"/>
            <a:r>
              <a:rPr dirty="0"/>
              <a:t>Monitoring monetized over prevention</a:t>
            </a:r>
            <a:r>
              <a:rPr lang="en-US" dirty="0"/>
              <a:t> “ freezes are free by Law”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Consumer Pain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Those who want to freeze their files ,	</a:t>
            </a:r>
          </a:p>
          <a:p>
            <a:pPr lvl="1"/>
            <a:r>
              <a:t>74% think bureaus make freezing difficult</a:t>
            </a:r>
          </a:p>
          <a:p>
            <a:pPr lvl="1"/>
            <a:r>
              <a:t>Repeated identity challenges</a:t>
            </a:r>
            <a:r>
              <a:rPr lang="en-US"/>
              <a:t>, upsell sights along the way</a:t>
            </a:r>
            <a:endParaRPr/>
          </a:p>
          <a:p>
            <a:pPr lvl="1"/>
            <a:r>
              <a:t>No unified status view</a:t>
            </a:r>
          </a:p>
          <a:p>
            <a:pPr lvl="1"/>
            <a:r>
              <a:t>Low trust in credit system</a:t>
            </a:r>
            <a:endParaRPr lang="en-US"/>
          </a:p>
          <a:p>
            <a:r>
              <a:rPr lang="en-US"/>
              <a:t>Past attempts to coordinate a 3B lock with bureaus have been blocked ( two main blockers)</a:t>
            </a:r>
          </a:p>
          <a:p>
            <a:pPr lvl="1"/>
            <a:r>
              <a:rPr lang="en-US"/>
              <a:t>They do not want lender friction</a:t>
            </a:r>
          </a:p>
          <a:p>
            <a:pPr lvl="1"/>
            <a:r>
              <a:rPr lang="en-US"/>
              <a:t>Coud undermine ID theft and monitoring services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3D technology art">
            <a:extLst>
              <a:ext uri="{FF2B5EF4-FFF2-40B4-BE49-F238E27FC236}">
                <a16:creationId xmlns:a16="http://schemas.microsoft.com/office/drawing/2014/main" id="{DAE4E941-4CB2-67D3-4AF3-53C0EED67A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084" r="35466" b="-1"/>
          <a:stretch>
            <a:fillRect/>
          </a:stretch>
        </p:blipFill>
        <p:spPr>
          <a:xfrm>
            <a:off x="4577270" y="10"/>
            <a:ext cx="4566728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7268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7268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38" y="28663"/>
            <a:ext cx="3583791" cy="1628970"/>
          </a:xfrm>
        </p:spPr>
        <p:txBody>
          <a:bodyPr anchor="ctr">
            <a:normAutofit/>
          </a:bodyPr>
          <a:lstStyle/>
          <a:p>
            <a:r>
              <a:rPr lang="en-US" sz="3500" dirty="0"/>
              <a:t>A New Approach and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0721" y="1442847"/>
            <a:ext cx="3494817" cy="4572005"/>
          </a:xfrm>
        </p:spPr>
        <p:txBody>
          <a:bodyPr anchor="ctr">
            <a:normAutofit fontScale="92500" lnSpcReduction="10000"/>
          </a:bodyPr>
          <a:lstStyle/>
          <a:p>
            <a:r>
              <a:rPr lang="en-US" sz="1700" dirty="0"/>
              <a:t>A guided workflow that assist consumers in freezing all three bureaus, ,prefilled forms and clear instructions</a:t>
            </a:r>
          </a:p>
          <a:p>
            <a:r>
              <a:rPr lang="en-US" sz="1700" dirty="0"/>
              <a:t>Pre Flight checklist ( what you need to start)</a:t>
            </a:r>
          </a:p>
          <a:p>
            <a:r>
              <a:rPr lang="en-US" sz="1700" dirty="0"/>
              <a:t>Step by step links to each Bureaus freeze file and one click links </a:t>
            </a:r>
          </a:p>
          <a:p>
            <a:r>
              <a:rPr lang="en-US" sz="1700" dirty="0"/>
              <a:t>Status tracker, quickly shows what has been frozen by bureau</a:t>
            </a:r>
          </a:p>
          <a:p>
            <a:pPr lvl="1"/>
            <a:r>
              <a:rPr lang="en-US" sz="1300" dirty="0"/>
              <a:t>Completion summary</a:t>
            </a:r>
          </a:p>
          <a:p>
            <a:endParaRPr lang="en-US" sz="1700" dirty="0"/>
          </a:p>
          <a:p>
            <a:r>
              <a:rPr lang="en-US" sz="1700" dirty="0"/>
              <a:t>One step to move all log ins to “ Credential manager “ to then  app controls all 3 bureau freezes</a:t>
            </a:r>
          </a:p>
          <a:p>
            <a:pPr lvl="1"/>
            <a:r>
              <a:rPr lang="en-US" sz="1700" dirty="0"/>
              <a:t>Face ID biometric security</a:t>
            </a:r>
          </a:p>
          <a:p>
            <a:pPr lvl="1"/>
            <a:r>
              <a:rPr lang="en-US" sz="1700" dirty="0"/>
              <a:t>Temporary unlock automation</a:t>
            </a:r>
          </a:p>
          <a:p>
            <a:pPr lvl="1"/>
            <a:r>
              <a:rPr lang="en-US" sz="1700" dirty="0"/>
              <a:t>Clear alerts and transparency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Now – Market Tailwinds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Record levels of data breaches across industries</a:t>
            </a:r>
            <a:r>
              <a:rPr lang="en-US" dirty="0"/>
              <a:t> ( 5,000 </a:t>
            </a:r>
            <a:r>
              <a:rPr lang="en-US" dirty="0" err="1"/>
              <a:t>rCompany</a:t>
            </a:r>
            <a:r>
              <a:rPr lang="en-US" dirty="0"/>
              <a:t> reported per year)</a:t>
            </a:r>
            <a:endParaRPr dirty="0"/>
          </a:p>
          <a:p>
            <a:pPr lvl="1"/>
            <a:r>
              <a:rPr dirty="0"/>
              <a:t>Identity theft losses growing double digits annually</a:t>
            </a:r>
          </a:p>
          <a:p>
            <a:pPr lvl="1"/>
            <a:r>
              <a:rPr dirty="0"/>
              <a:t>Regulators encouraging credit freezes as best defense</a:t>
            </a:r>
          </a:p>
          <a:p>
            <a:pPr lvl="1"/>
            <a:r>
              <a:rPr dirty="0"/>
              <a:t>Consumer trust in bureaus declining</a:t>
            </a:r>
          </a:p>
          <a:p>
            <a:pPr lvl="1"/>
            <a:r>
              <a:rPr dirty="0"/>
              <a:t>Mobile-first security habits becoming standard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Breach remediation tool, vs the higher cost monitoring</a:t>
            </a:r>
          </a:p>
          <a:p>
            <a:r>
              <a:rPr lang="en-US" dirty="0"/>
              <a:t>Freeze vs Monitoring  is higher value but lower cost alternative </a:t>
            </a:r>
          </a:p>
          <a:p>
            <a:endParaRPr lang="en-US" dirty="0"/>
          </a:p>
          <a:p>
            <a:r>
              <a:rPr dirty="0"/>
              <a:t>B2B2C licensing</a:t>
            </a:r>
          </a:p>
          <a:p>
            <a:pPr lvl="1"/>
            <a:r>
              <a:rPr dirty="0"/>
              <a:t>Direct subscriptions</a:t>
            </a:r>
          </a:p>
          <a:p>
            <a:pPr lvl="1"/>
            <a:r>
              <a:rPr dirty="0"/>
              <a:t>Partner revenue share</a:t>
            </a:r>
          </a:p>
          <a:p>
            <a:pPr lvl="1"/>
            <a:r>
              <a:rPr dirty="0"/>
              <a:t>API platform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Vision: Become the Consumer Control Layer for Credit &amp; Identity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243263"/>
          </a:xfrm>
        </p:spPr>
        <p:txBody>
          <a:bodyPr>
            <a:noAutofit/>
          </a:bodyPr>
          <a:lstStyle/>
          <a:p>
            <a:r>
              <a:rPr sz="2400" dirty="0"/>
              <a:t>Own the single pane of glass for consumer credit security and identity control</a:t>
            </a:r>
          </a:p>
          <a:p>
            <a:pPr lvl="1"/>
            <a:r>
              <a:rPr sz="2000" dirty="0"/>
              <a:t>Universal control across all credit bureaus and financial systems</a:t>
            </a:r>
          </a:p>
          <a:p>
            <a:pPr lvl="1"/>
            <a:r>
              <a:rPr sz="2000" dirty="0"/>
              <a:t>Shift the industry from reactive monitoring to proactive prevention</a:t>
            </a:r>
          </a:p>
          <a:p>
            <a:pPr lvl="1"/>
            <a:r>
              <a:rPr sz="2000" dirty="0"/>
              <a:t>Embedded everywhere consumers manage money (banks, payroll, insurance)</a:t>
            </a:r>
          </a:p>
          <a:p>
            <a:pPr lvl="1"/>
            <a:r>
              <a:rPr sz="2000" dirty="0"/>
              <a:t>Trusted biometric-first security standard</a:t>
            </a:r>
          </a:p>
          <a:p>
            <a:pPr lvl="1"/>
            <a:r>
              <a:rPr sz="2000" dirty="0"/>
              <a:t>Long-term platform for broader identity permissions and financial access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AD2E10-C6DD-FD09-313E-E176E861D87F}"/>
              </a:ext>
            </a:extLst>
          </p:cNvPr>
          <p:cNvSpPr txBox="1"/>
          <p:nvPr/>
        </p:nvSpPr>
        <p:spPr>
          <a:xfrm>
            <a:off x="305101" y="5257800"/>
            <a:ext cx="88680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Consumers own their file, Freezes allows them manage and control  </a:t>
            </a:r>
          </a:p>
          <a:p>
            <a:r>
              <a:rPr lang="en-US" sz="2400" b="1" dirty="0"/>
              <a:t>                         “Lock Box and they own the key”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Phase 1: MVP Coach App + Status Dashboard</a:t>
            </a:r>
            <a:endParaRPr lang="en-US" dirty="0"/>
          </a:p>
          <a:p>
            <a:pPr lvl="1"/>
            <a:r>
              <a:rPr lang="en-US" dirty="0"/>
              <a:t>Working web page </a:t>
            </a:r>
            <a:r>
              <a:rPr lang="en-US" dirty="0" err="1"/>
              <a:t>Launchs</a:t>
            </a:r>
            <a:r>
              <a:rPr lang="en-US" dirty="0"/>
              <a:t> Credit Freeze manager</a:t>
            </a:r>
            <a:endParaRPr dirty="0"/>
          </a:p>
          <a:p>
            <a:pPr lvl="1"/>
            <a:r>
              <a:rPr lang="en-US" dirty="0"/>
              <a:t>Simple managed workflow across three bureaus ( Equifax, Tu and Experian) </a:t>
            </a:r>
            <a:endParaRPr dirty="0"/>
          </a:p>
          <a:p>
            <a:pPr lvl="1"/>
            <a:r>
              <a:rPr dirty="0"/>
              <a:t>Full Three-Bureau Lock</a:t>
            </a:r>
          </a:p>
          <a:p>
            <a:pPr lvl="1"/>
            <a:r>
              <a:rPr lang="en-US" dirty="0"/>
              <a:t>Easy transition to Credential manager on device browser to enable unlock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Competitive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Bureaus dominate monitoring</a:t>
            </a:r>
          </a:p>
          <a:p>
            <a:pPr lvl="1"/>
            <a:r>
              <a:t>Apps offer alerts only</a:t>
            </a:r>
          </a:p>
          <a:p>
            <a:pPr lvl="1"/>
            <a:r>
              <a:t>ID firms reactive</a:t>
            </a:r>
          </a:p>
          <a:p>
            <a:pPr lvl="1"/>
            <a:r>
              <a:t>Banks lack freeze tools</a:t>
            </a:r>
          </a:p>
          <a:p>
            <a:pPr lvl="1"/>
            <a:r>
              <a:t>Gap: unified lock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Streams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B2B2C fees</a:t>
            </a:r>
            <a:endParaRPr lang="en-US" dirty="0"/>
          </a:p>
          <a:p>
            <a:r>
              <a:rPr lang="en-US" dirty="0"/>
              <a:t>Breach Bundles and possible Call center help </a:t>
            </a:r>
            <a:endParaRPr dirty="0"/>
          </a:p>
          <a:p>
            <a:pPr lvl="1"/>
            <a:r>
              <a:rPr lang="en-US" dirty="0"/>
              <a:t>Sell by each Breach based on simple subscription by </a:t>
            </a:r>
            <a:r>
              <a:rPr lang="en-US" dirty="0" err="1"/>
              <a:t>soze</a:t>
            </a:r>
            <a:r>
              <a:rPr lang="en-US" dirty="0"/>
              <a:t> of </a:t>
            </a:r>
            <a:r>
              <a:rPr lang="en-US" dirty="0" err="1"/>
              <a:t>breaeech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Under 1,000 $ 2,500</a:t>
            </a:r>
          </a:p>
          <a:p>
            <a:pPr lvl="2"/>
            <a:r>
              <a:rPr lang="en-US" dirty="0"/>
              <a:t>1k to 5K $5,000</a:t>
            </a:r>
          </a:p>
          <a:p>
            <a:pPr lvl="2"/>
            <a:r>
              <a:rPr lang="en-US" dirty="0"/>
              <a:t>5k to 10K $ $7,500</a:t>
            </a:r>
          </a:p>
          <a:p>
            <a:pPr lvl="2"/>
            <a:r>
              <a:rPr lang="en-US" dirty="0"/>
              <a:t>10k to 50k $10,000</a:t>
            </a:r>
          </a:p>
          <a:p>
            <a:pPr lvl="2"/>
            <a:r>
              <a:rPr lang="en-US" dirty="0"/>
              <a:t>Over 50k </a:t>
            </a:r>
            <a:endParaRPr dirty="0"/>
          </a:p>
          <a:p>
            <a:pPr lvl="1"/>
            <a:r>
              <a:rPr dirty="0"/>
              <a:t>Insurance bundles</a:t>
            </a:r>
          </a:p>
          <a:p>
            <a:pPr lvl="1"/>
            <a:r>
              <a:rPr dirty="0"/>
              <a:t>Enterprise APIs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Go-To-Market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MVP </a:t>
            </a:r>
            <a:r>
              <a:rPr lang="en-US" dirty="0"/>
              <a:t>1.0 Validate with Brokers managing breach's </a:t>
            </a:r>
          </a:p>
          <a:p>
            <a:r>
              <a:rPr lang="en-US" dirty="0"/>
              <a:t>Future </a:t>
            </a:r>
            <a:r>
              <a:rPr dirty="0"/>
              <a:t>Bank</a:t>
            </a:r>
            <a:r>
              <a:rPr lang="en-US" dirty="0"/>
              <a:t>s</a:t>
            </a:r>
            <a:r>
              <a:rPr dirty="0"/>
              <a:t> &amp; </a:t>
            </a:r>
            <a:r>
              <a:rPr lang="en-US" dirty="0"/>
              <a:t>Insurance areas with Sector targets </a:t>
            </a:r>
          </a:p>
          <a:p>
            <a:pPr lvl="1"/>
            <a:r>
              <a:rPr lang="en-US" dirty="0"/>
              <a:t>Seniors and low credit need consumers </a:t>
            </a:r>
          </a:p>
          <a:p>
            <a:pPr lvl="1"/>
            <a:r>
              <a:rPr lang="en-US" dirty="0"/>
              <a:t>Bundled with Other monitoring tools </a:t>
            </a:r>
          </a:p>
          <a:p>
            <a:r>
              <a:rPr lang="en-US" dirty="0"/>
              <a:t>MVP after validating  build App to make it easier to freeze and unfreeze without web based tool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674</Words>
  <Application>Microsoft Macintosh PowerPoint</Application>
  <PresentationFormat>On-screen Show (4:3)</PresentationFormat>
  <Paragraphs>95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Three-Bureau Credit File Freeze  A Superior Solution to stop ID Theft Vs Credit Monitoring.    </vt:lpstr>
      <vt:lpstr>Credit Monitoring is standard for breach remediation  and a huge Cash cow for  Credit Bureaus </vt:lpstr>
      <vt:lpstr>Consumer Pain Points</vt:lpstr>
      <vt:lpstr>A New Approach and Solution</vt:lpstr>
      <vt:lpstr>Why Now – Market Tailwinds</vt:lpstr>
      <vt:lpstr>Business Model</vt:lpstr>
      <vt:lpstr>Vision: Become the Consumer Control Layer for Credit &amp; Identity</vt:lpstr>
      <vt:lpstr>Product Roadmap</vt:lpstr>
      <vt:lpstr>Appendix: Competitive Landscape</vt:lpstr>
      <vt:lpstr>Revenue Streams</vt:lpstr>
      <vt:lpstr>Go-To-Market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a Three-Bureau File Freeze Is  A Better Answer to ID &amp; Credit Theft &amp; A clear Consumer win over Credit Monitoring </dc:title>
  <dc:subject/>
  <dc:creator>Dann Adams</dc:creator>
  <cp:keywords/>
  <dc:description>generated using python-pptx</dc:description>
  <cp:lastModifiedBy>Dann Adams</cp:lastModifiedBy>
  <cp:revision>2</cp:revision>
  <dcterms:created xsi:type="dcterms:W3CDTF">2013-01-27T09:14:16Z</dcterms:created>
  <dcterms:modified xsi:type="dcterms:W3CDTF">2026-02-12T17:59:32Z</dcterms:modified>
  <cp:category/>
</cp:coreProperties>
</file>